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432" r:id="rId3"/>
    <p:sldId id="447" r:id="rId4"/>
    <p:sldId id="451" r:id="rId5"/>
    <p:sldId id="453" r:id="rId6"/>
    <p:sldId id="473" r:id="rId7"/>
    <p:sldId id="474" r:id="rId8"/>
  </p:sldIdLst>
  <p:sldSz cx="12192000" cy="6858000"/>
  <p:notesSz cx="6858000" cy="9144000"/>
  <p:embeddedFontLst>
    <p:embeddedFont>
      <p:font typeface="ADLaM Display" panose="02010000000000000000" pitchFamily="2" charset="0"/>
      <p:regular r:id="rId10"/>
    </p:embeddedFont>
    <p:embeddedFont>
      <p:font typeface="Cambria Math" panose="02040503050406030204" pitchFamily="18" charset="0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iC4LXGkY6yg/IjoJDSS4kncef+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796826-F567-4EB6-B248-4FA224979A40}">
  <a:tblStyle styleId="{CD796826-F567-4EB6-B248-4FA224979A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50" autoAdjust="0"/>
    <p:restoredTop sz="93595" autoAdjust="0"/>
  </p:normalViewPr>
  <p:slideViewPr>
    <p:cSldViewPr snapToGrid="0">
      <p:cViewPr varScale="1">
        <p:scale>
          <a:sx n="82" d="100"/>
          <a:sy n="82" d="100"/>
        </p:scale>
        <p:origin x="103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C9DC3BCF-BF07-EE98-9623-18EA30C92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dda72ccb_0_7:notes">
            <a:extLst>
              <a:ext uri="{FF2B5EF4-FFF2-40B4-BE49-F238E27FC236}">
                <a16:creationId xmlns:a16="http://schemas.microsoft.com/office/drawing/2014/main" id="{87498C00-8267-C404-6B93-8A3BF3C3A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7edda72ccb_0_7:notes">
            <a:extLst>
              <a:ext uri="{FF2B5EF4-FFF2-40B4-BE49-F238E27FC236}">
                <a16:creationId xmlns:a16="http://schemas.microsoft.com/office/drawing/2014/main" id="{00F7DCA7-072D-7AE1-1EF4-41B0F16C3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8235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A1FB01F-D3DB-E66E-230F-BDD3EA0D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dda72ccb_0_7:notes">
            <a:extLst>
              <a:ext uri="{FF2B5EF4-FFF2-40B4-BE49-F238E27FC236}">
                <a16:creationId xmlns:a16="http://schemas.microsoft.com/office/drawing/2014/main" id="{0EE60FB6-C5FB-3EAE-E970-37E67DDCC0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7edda72ccb_0_7:notes">
            <a:extLst>
              <a:ext uri="{FF2B5EF4-FFF2-40B4-BE49-F238E27FC236}">
                <a16:creationId xmlns:a16="http://schemas.microsoft.com/office/drawing/2014/main" id="{D0278994-432F-6FF2-AFC9-F0DB080FB6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359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2D46386-F67D-E291-2AA6-F6B4AC168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dda72ccb_0_7:notes">
            <a:extLst>
              <a:ext uri="{FF2B5EF4-FFF2-40B4-BE49-F238E27FC236}">
                <a16:creationId xmlns:a16="http://schemas.microsoft.com/office/drawing/2014/main" id="{8824189A-B172-65AD-6F79-A29D7F35F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7edda72ccb_0_7:notes">
            <a:extLst>
              <a:ext uri="{FF2B5EF4-FFF2-40B4-BE49-F238E27FC236}">
                <a16:creationId xmlns:a16="http://schemas.microsoft.com/office/drawing/2014/main" id="{B2CECC3D-DD37-9547-57B8-4CB4440DF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6864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D55C206-D520-7ABC-F41A-600D4368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dda72ccb_0_7:notes">
            <a:extLst>
              <a:ext uri="{FF2B5EF4-FFF2-40B4-BE49-F238E27FC236}">
                <a16:creationId xmlns:a16="http://schemas.microsoft.com/office/drawing/2014/main" id="{9F4BF507-7CB4-EDE6-595A-89A796602A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7edda72ccb_0_7:notes">
            <a:extLst>
              <a:ext uri="{FF2B5EF4-FFF2-40B4-BE49-F238E27FC236}">
                <a16:creationId xmlns:a16="http://schemas.microsoft.com/office/drawing/2014/main" id="{3A21D4AE-3B83-3F00-E2C5-B03FB12A4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3010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36FC70F3-DA79-A796-F5A1-79253838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dda72ccb_0_7:notes">
            <a:extLst>
              <a:ext uri="{FF2B5EF4-FFF2-40B4-BE49-F238E27FC236}">
                <a16:creationId xmlns:a16="http://schemas.microsoft.com/office/drawing/2014/main" id="{14F0BF6F-E86D-9CC8-65E6-04EF9E54C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7edda72ccb_0_7:notes">
            <a:extLst>
              <a:ext uri="{FF2B5EF4-FFF2-40B4-BE49-F238E27FC236}">
                <a16:creationId xmlns:a16="http://schemas.microsoft.com/office/drawing/2014/main" id="{29FC5848-91E7-C535-2638-89ABEFED0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1390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55F799BD-B56C-51EA-EE8C-3FCACB00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dda72ccb_0_7:notes">
            <a:extLst>
              <a:ext uri="{FF2B5EF4-FFF2-40B4-BE49-F238E27FC236}">
                <a16:creationId xmlns:a16="http://schemas.microsoft.com/office/drawing/2014/main" id="{E53D36D2-3F5F-F11B-2954-BE196E6E9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7edda72ccb_0_7:notes">
            <a:extLst>
              <a:ext uri="{FF2B5EF4-FFF2-40B4-BE49-F238E27FC236}">
                <a16:creationId xmlns:a16="http://schemas.microsoft.com/office/drawing/2014/main" id="{FCB52C8F-486B-A2C9-2C93-19F191609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906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1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3.png"/><Relationship Id="rId9" Type="http://schemas.openxmlformats.org/officeDocument/2006/relationships/image" Target="../media/image6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5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0.png"/><Relationship Id="rId4" Type="http://schemas.openxmlformats.org/officeDocument/2006/relationships/image" Target="../media/image9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0" y="168027"/>
            <a:ext cx="12192000" cy="953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DLaM Display"/>
              <a:buNone/>
            </a:pPr>
            <a:r>
              <a:rPr lang="en-GB" dirty="0">
                <a:latin typeface="ADLaM Display"/>
                <a:ea typeface="ADLaM Display"/>
                <a:cs typeface="ADLaM Display"/>
                <a:sym typeface="ADLaM Display"/>
              </a:rPr>
              <a:t>CALCULUS – INTEGRATION</a:t>
            </a:r>
            <a:endParaRPr sz="8000" dirty="0"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1121274"/>
            <a:ext cx="9144000" cy="188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GB" sz="5400" dirty="0">
                <a:latin typeface="ADLaM Display"/>
                <a:ea typeface="ADLaM Display"/>
                <a:cs typeface="ADLaM Display"/>
                <a:sym typeface="ADLaM Display"/>
              </a:rPr>
              <a:t>Chapter 15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GB" sz="5400" dirty="0">
                <a:latin typeface="ADLaM Display"/>
                <a:ea typeface="ADLaM Display"/>
                <a:cs typeface="ADLaM Display"/>
                <a:sym typeface="ADLaM Display"/>
              </a:rPr>
              <a:t>PAGE 371</a:t>
            </a:r>
            <a:endParaRPr sz="5400" dirty="0">
              <a:latin typeface="ADLaM Display"/>
              <a:ea typeface="ADLaM Display"/>
              <a:cs typeface="ADLaM Display"/>
              <a:sym typeface="ADLaM Display"/>
            </a:endParaRPr>
          </a:p>
        </p:txBody>
      </p:sp>
      <p:sp>
        <p:nvSpPr>
          <p:cNvPr id="2" name="AutoShape 2" descr="Lightbox">
            <a:extLst>
              <a:ext uri="{FF2B5EF4-FFF2-40B4-BE49-F238E27FC236}">
                <a16:creationId xmlns:a16="http://schemas.microsoft.com/office/drawing/2014/main" id="{AAEB23FB-96D6-29D5-C1ED-CCDEE81ADF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6" descr="Sequences and Series - GeeksforGeeks">
            <a:extLst>
              <a:ext uri="{FF2B5EF4-FFF2-40B4-BE49-F238E27FC236}">
                <a16:creationId xmlns:a16="http://schemas.microsoft.com/office/drawing/2014/main" id="{33C573BE-5975-9BF3-0B91-F1D6FA7E54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6" name="Picture 2" descr="Integral Calculus – C1encia">
            <a:extLst>
              <a:ext uri="{FF2B5EF4-FFF2-40B4-BE49-F238E27FC236}">
                <a16:creationId xmlns:a16="http://schemas.microsoft.com/office/drawing/2014/main" id="{951DFA0A-3D85-F6C9-127A-C14FC3AB6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287265"/>
            <a:ext cx="5584339" cy="331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gral Calculus : Integration: Graphical Meaning">
            <a:extLst>
              <a:ext uri="{FF2B5EF4-FFF2-40B4-BE49-F238E27FC236}">
                <a16:creationId xmlns:a16="http://schemas.microsoft.com/office/drawing/2014/main" id="{E085571D-4DF6-301F-7878-C92C4B6E2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2770"/>
            <a:ext cx="5515230" cy="5515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99736036-BB27-6981-635B-3A96D9D3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dda72ccb_0_7">
            <a:extLst>
              <a:ext uri="{FF2B5EF4-FFF2-40B4-BE49-F238E27FC236}">
                <a16:creationId xmlns:a16="http://schemas.microsoft.com/office/drawing/2014/main" id="{1E837E10-8CAB-6A9A-A037-E36A36EFC262}"/>
              </a:ext>
            </a:extLst>
          </p:cNvPr>
          <p:cNvSpPr txBox="1"/>
          <p:nvPr/>
        </p:nvSpPr>
        <p:spPr>
          <a:xfrm>
            <a:off x="-6220" y="0"/>
            <a:ext cx="12192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15.1 INTEGRATION – DIFFERENTIATION REVERSED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48D6BB-654E-991E-4E8E-4304638F8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853397"/>
              </p:ext>
            </p:extLst>
          </p:nvPr>
        </p:nvGraphicFramePr>
        <p:xfrm>
          <a:off x="0" y="784651"/>
          <a:ext cx="12192000" cy="470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722944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619475695"/>
                    </a:ext>
                  </a:extLst>
                </a:gridCol>
              </a:tblGrid>
              <a:tr h="820214">
                <a:tc gridSpan="2">
                  <a:txBody>
                    <a:bodyPr/>
                    <a:lstStyle/>
                    <a:p>
                      <a:pPr algn="ctr"/>
                      <a:r>
                        <a:rPr lang="en-GB" altLang="zh-CN" sz="4000" dirty="0"/>
                        <a:t>KEY WORDS (P.371)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179033"/>
                  </a:ext>
                </a:extLst>
              </a:tr>
              <a:tr h="129583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GB" altLang="zh-CN" sz="4800" dirty="0"/>
                        <a:t>Integration</a:t>
                      </a:r>
                      <a:endParaRPr lang="zh-CN" alt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zh-CN" altLang="en-US" sz="5400" dirty="0"/>
                        <a:t>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993429"/>
                  </a:ext>
                </a:extLst>
              </a:tr>
              <a:tr h="129583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GB" altLang="zh-CN" sz="4800" dirty="0"/>
                        <a:t>Indefinite integral</a:t>
                      </a:r>
                      <a:endParaRPr lang="zh-CN" alt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zh-CN" altLang="en-US" sz="5400" dirty="0"/>
                        <a:t>不定积分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547276"/>
                  </a:ext>
                </a:extLst>
              </a:tr>
              <a:tr h="129583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GB" altLang="zh-CN" sz="4800" dirty="0"/>
                        <a:t>Definite integral</a:t>
                      </a:r>
                      <a:endParaRPr lang="zh-CN" altLang="en-US" sz="4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zh-CN" altLang="en-US" sz="5400" dirty="0"/>
                        <a:t>定积分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036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4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E3CABE8D-486F-133F-99F8-43535420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Google Shape;112;g37edda72ccb_0_7">
                <a:extLst>
                  <a:ext uri="{FF2B5EF4-FFF2-40B4-BE49-F238E27FC236}">
                    <a16:creationId xmlns:a16="http://schemas.microsoft.com/office/drawing/2014/main" id="{8499CA97-A29B-A4B9-2210-5C019E55C67D}"/>
                  </a:ext>
                </a:extLst>
              </p:cNvPr>
              <p:cNvSpPr txBox="1"/>
              <p:nvPr/>
            </p:nvSpPr>
            <p:spPr>
              <a:xfrm>
                <a:off x="0" y="10"/>
                <a:ext cx="12192000" cy="790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 algn="ctr"/>
                <a:r>
                  <a:rPr lang="en-GB" altLang="zh-CN" sz="3200" dirty="0">
                    <a:solidFill>
                      <a:schemeClr val="dk1"/>
                    </a:solidFill>
                    <a:latin typeface="ADLaM Display"/>
                    <a:ea typeface="ADLaM Display"/>
                    <a:cs typeface="ADLaM Display"/>
                    <a:sym typeface="ADLaM Display"/>
                  </a:rPr>
                  <a:t>15.6 INTEGRATION OF FUNCTIONS IN THE 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DLaM Display"/>
                            <a:cs typeface="ADLaM Display"/>
                            <a:sym typeface="ADLaM Display"/>
                          </a:rPr>
                        </m:ctrlPr>
                      </m:fPr>
                      <m:num>
                        <m:r>
                          <a:rPr lang="en-GB" altLang="zh-C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DLaM Display"/>
                            <a:cs typeface="ADLaM Display"/>
                            <a:sym typeface="ADLaM Display"/>
                          </a:rPr>
                          <m:t>1</m:t>
                        </m:r>
                      </m:num>
                      <m:den>
                        <m:r>
                          <a:rPr lang="en-GB" altLang="zh-C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DLaM Display"/>
                            <a:cs typeface="ADLaM Display"/>
                            <a:sym typeface="ADLaM Display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altLang="zh-CN" sz="3200" dirty="0">
                    <a:solidFill>
                      <a:schemeClr val="dk1"/>
                    </a:solidFill>
                    <a:latin typeface="ADLaM Display"/>
                    <a:ea typeface="ADLaM Display"/>
                    <a:cs typeface="ADLaM Display"/>
                    <a:sym typeface="ADLaM Display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DLaM Display"/>
                            <a:cs typeface="ADLaM Display"/>
                            <a:sym typeface="ADLaM Display"/>
                          </a:rPr>
                        </m:ctrlPr>
                      </m:fPr>
                      <m:num>
                        <m:r>
                          <a:rPr lang="en-GB" altLang="zh-C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DLaM Display"/>
                            <a:cs typeface="ADLaM Display"/>
                            <a:sym typeface="ADLaM Display"/>
                          </a:rPr>
                          <m:t>1</m:t>
                        </m:r>
                      </m:num>
                      <m:den>
                        <m:r>
                          <a:rPr lang="en-GB" altLang="zh-C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DLaM Display"/>
                            <a:cs typeface="ADLaM Display"/>
                            <a:sym typeface="ADLaM Display"/>
                          </a:rPr>
                          <m:t>𝑎𝑥</m:t>
                        </m:r>
                        <m:r>
                          <a:rPr lang="en-GB" altLang="zh-C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DLaM Display"/>
                            <a:cs typeface="ADLaM Display"/>
                            <a:sym typeface="ADLaM Display"/>
                          </a:rPr>
                          <m:t>+</m:t>
                        </m:r>
                        <m:r>
                          <a:rPr lang="en-GB" altLang="zh-CN" sz="3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ADLaM Display"/>
                            <a:cs typeface="ADLaM Display"/>
                            <a:sym typeface="ADLaM Display"/>
                          </a:rPr>
                          <m:t>𝑏</m:t>
                        </m:r>
                      </m:den>
                    </m:f>
                  </m:oMath>
                </a14:m>
                <a:endParaRPr sz="4000" dirty="0">
                  <a:solidFill>
                    <a:schemeClr val="dk1"/>
                  </a:solidFill>
                  <a:latin typeface="ADLaM Display"/>
                  <a:ea typeface="ADLaM Display"/>
                  <a:cs typeface="ADLaM Display"/>
                  <a:sym typeface="ADLaM Display"/>
                </a:endParaRPr>
              </a:p>
            </p:txBody>
          </p:sp>
        </mc:Choice>
        <mc:Fallback xmlns="">
          <p:sp>
            <p:nvSpPr>
              <p:cNvPr id="112" name="Google Shape;112;g37edda72ccb_0_7">
                <a:extLst>
                  <a:ext uri="{FF2B5EF4-FFF2-40B4-BE49-F238E27FC236}">
                    <a16:creationId xmlns:a16="http://schemas.microsoft.com/office/drawing/2014/main" id="{8499CA97-A29B-A4B9-2210-5C019E55C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"/>
                <a:ext cx="12192000" cy="790304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oogle Shape;268;g37edda72ccb_0_104" descr="A close up of a fountain pen&#10;&#10;AI-generated content may be incorrect.">
            <a:extLst>
              <a:ext uri="{FF2B5EF4-FFF2-40B4-BE49-F238E27FC236}">
                <a16:creationId xmlns:a16="http://schemas.microsoft.com/office/drawing/2014/main" id="{DC01A752-CF55-7D06-A1CD-4A1D76A8D4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0030" y="1563327"/>
            <a:ext cx="884904" cy="186567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395C67-2EEF-CCB2-15E2-C2CEF9573DC3}"/>
              </a:ext>
            </a:extLst>
          </p:cNvPr>
          <p:cNvSpPr txBox="1"/>
          <p:nvPr/>
        </p:nvSpPr>
        <p:spPr>
          <a:xfrm>
            <a:off x="0" y="799718"/>
            <a:ext cx="12192000" cy="58477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altLang="zh-CN" sz="3200" b="1" dirty="0">
                <a:solidFill>
                  <a:schemeClr val="bg1"/>
                </a:solidFill>
              </a:rPr>
              <a:t>CLASS DISCUSSION (P.384)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8F38-FBCA-A41B-DFEB-A0A6BF8AF583}"/>
              </a:ext>
            </a:extLst>
          </p:cNvPr>
          <p:cNvSpPr txBox="1"/>
          <p:nvPr/>
        </p:nvSpPr>
        <p:spPr>
          <a:xfrm>
            <a:off x="0" y="1393897"/>
            <a:ext cx="9013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200" dirty="0"/>
              <a:t>Raju and Sara are asked to find  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B8C237-BC54-712C-6E0E-074A786F3513}"/>
                  </a:ext>
                </a:extLst>
              </p:cNvPr>
              <p:cNvSpPr txBox="1"/>
              <p:nvPr/>
            </p:nvSpPr>
            <p:spPr>
              <a:xfrm>
                <a:off x="5915608" y="1393897"/>
                <a:ext cx="2442079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2(3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B8C237-BC54-712C-6E0E-074A786F3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608" y="1393897"/>
                <a:ext cx="2442079" cy="1130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008AAF5-38E8-602E-F0E9-25AF204A7027}"/>
              </a:ext>
            </a:extLst>
          </p:cNvPr>
          <p:cNvSpPr txBox="1"/>
          <p:nvPr/>
        </p:nvSpPr>
        <p:spPr>
          <a:xfrm>
            <a:off x="0" y="2524078"/>
            <a:ext cx="23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200" dirty="0"/>
              <a:t>Raju writes: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44096F-8188-FC09-3C76-7B204A17B420}"/>
                  </a:ext>
                </a:extLst>
              </p:cNvPr>
              <p:cNvSpPr txBox="1"/>
              <p:nvPr/>
            </p:nvSpPr>
            <p:spPr>
              <a:xfrm>
                <a:off x="2242457" y="2496163"/>
                <a:ext cx="2442079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2(3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44096F-8188-FC09-3C76-7B204A17B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457" y="2496163"/>
                <a:ext cx="2442079" cy="1130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61B2B5-0DCC-702B-340C-6070EE2A4BD2}"/>
                  </a:ext>
                </a:extLst>
              </p:cNvPr>
              <p:cNvSpPr txBox="1"/>
              <p:nvPr/>
            </p:nvSpPr>
            <p:spPr>
              <a:xfrm>
                <a:off x="4759297" y="2446246"/>
                <a:ext cx="2312621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61B2B5-0DCC-702B-340C-6070EE2A4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297" y="2446246"/>
                <a:ext cx="2312621" cy="1130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386422-370B-BB63-B0D5-684E4AA6D417}"/>
                  </a:ext>
                </a:extLst>
              </p:cNvPr>
              <p:cNvSpPr txBox="1"/>
              <p:nvPr/>
            </p:nvSpPr>
            <p:spPr>
              <a:xfrm>
                <a:off x="7071918" y="2524078"/>
                <a:ext cx="3048142" cy="80945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altLang="zh-CN" sz="2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func>
                        <m:funcPr>
                          <m:ctrlPr>
                            <a:rPr lang="en-GB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altLang="zh-CN" sz="28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func>
                      <m:r>
                        <a:rPr lang="en-GB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altLang="zh-CN" sz="28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386422-370B-BB63-B0D5-684E4AA6D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918" y="2524078"/>
                <a:ext cx="3048142" cy="809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050D18C-79DA-38AC-95D4-0286E27295D0}"/>
              </a:ext>
            </a:extLst>
          </p:cNvPr>
          <p:cNvSpPr txBox="1"/>
          <p:nvPr/>
        </p:nvSpPr>
        <p:spPr>
          <a:xfrm>
            <a:off x="0" y="3758059"/>
            <a:ext cx="2360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200" dirty="0"/>
              <a:t>Sara writes: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52A69B-7B5B-D34B-63A5-1219A417CF7C}"/>
                  </a:ext>
                </a:extLst>
              </p:cNvPr>
              <p:cNvSpPr txBox="1"/>
              <p:nvPr/>
            </p:nvSpPr>
            <p:spPr>
              <a:xfrm>
                <a:off x="2242456" y="3758059"/>
                <a:ext cx="2442079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2(3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52A69B-7B5B-D34B-63A5-1219A417C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456" y="3758059"/>
                <a:ext cx="2442079" cy="11301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E7818C-066C-EB7F-A757-22312D36B3B6}"/>
                  </a:ext>
                </a:extLst>
              </p:cNvPr>
              <p:cNvSpPr txBox="1"/>
              <p:nvPr/>
            </p:nvSpPr>
            <p:spPr>
              <a:xfrm>
                <a:off x="4759297" y="3757633"/>
                <a:ext cx="2571217" cy="11301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E7818C-066C-EB7F-A757-22312D36B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297" y="3757633"/>
                <a:ext cx="2571217" cy="113018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5266B0-E0D4-200C-0D30-737AEB5F3465}"/>
                  </a:ext>
                </a:extLst>
              </p:cNvPr>
              <p:cNvSpPr txBox="1"/>
              <p:nvPr/>
            </p:nvSpPr>
            <p:spPr>
              <a:xfrm>
                <a:off x="7405276" y="3782361"/>
                <a:ext cx="4034502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altLang="zh-CN" sz="2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GB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altLang="zh-CN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5266B0-E0D4-200C-0D30-737AEB5F3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276" y="3782361"/>
                <a:ext cx="4034502" cy="9681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5E94AA-1F71-F14C-91F4-70656FE687C6}"/>
                  </a:ext>
                </a:extLst>
              </p:cNvPr>
              <p:cNvSpPr txBox="1"/>
              <p:nvPr/>
            </p:nvSpPr>
            <p:spPr>
              <a:xfrm>
                <a:off x="7405276" y="4887814"/>
                <a:ext cx="3048142" cy="80945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altLang="zh-CN" sz="2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func>
                        <m:funcPr>
                          <m:ctrlPr>
                            <a:rPr lang="en-GB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altLang="zh-CN" sz="28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ctrlP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altLang="zh-CN" sz="28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5E94AA-1F71-F14C-91F4-70656FE68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276" y="4887814"/>
                <a:ext cx="3048142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0A343A7-939A-1A20-7A75-28F718EEE9FA}"/>
              </a:ext>
            </a:extLst>
          </p:cNvPr>
          <p:cNvSpPr txBox="1"/>
          <p:nvPr/>
        </p:nvSpPr>
        <p:spPr>
          <a:xfrm>
            <a:off x="37890" y="5009117"/>
            <a:ext cx="71752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600" dirty="0"/>
              <a:t>Decide who is correct and discuss the reasons for your decision with your classmates.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0171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E270BFF0-32AB-9BB9-4FF0-B3AD32CB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dda72ccb_0_7">
            <a:extLst>
              <a:ext uri="{FF2B5EF4-FFF2-40B4-BE49-F238E27FC236}">
                <a16:creationId xmlns:a16="http://schemas.microsoft.com/office/drawing/2014/main" id="{7735CAA1-1D11-F7B3-6C29-73F615FE8F55}"/>
              </a:ext>
            </a:extLst>
          </p:cNvPr>
          <p:cNvSpPr txBox="1"/>
          <p:nvPr/>
        </p:nvSpPr>
        <p:spPr>
          <a:xfrm>
            <a:off x="-6220" y="0"/>
            <a:ext cx="121920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15.9 FURTHER DEFINITE INTEGRATION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EXAMPLE 18 (W.E.18, P.394)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3EE4D4-6D73-00A9-2466-CCF1A2B29E57}"/>
                  </a:ext>
                </a:extLst>
              </p:cNvPr>
              <p:cNvSpPr txBox="1"/>
              <p:nvPr/>
            </p:nvSpPr>
            <p:spPr>
              <a:xfrm>
                <a:off x="6220" y="1323399"/>
                <a:ext cx="7023230" cy="902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CN" sz="3600" b="1" dirty="0">
                    <a:solidFill>
                      <a:srgbClr val="FF0000"/>
                    </a:solidFill>
                  </a:rPr>
                  <a:t>a)</a:t>
                </a:r>
                <a:r>
                  <a:rPr lang="en-GB" altLang="zh-CN" sz="3600" dirty="0"/>
                  <a:t> Given that </a:t>
                </a:r>
                <a14:m>
                  <m:oMath xmlns:m="http://schemas.openxmlformats.org/officeDocument/2006/math">
                    <m:r>
                      <a:rPr lang="en-GB" altLang="zh-CN" sz="3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zh-CN" sz="3600" b="0" i="1" smtClean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sz="3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altLang="zh-CN" sz="36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altLang="zh-CN" sz="3600" dirty="0"/>
                  <a:t> </a:t>
                </a:r>
                <a:endParaRPr lang="zh-CN" alt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3EE4D4-6D73-00A9-2466-CCF1A2B29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" y="1323399"/>
                <a:ext cx="7023230" cy="902876"/>
              </a:xfrm>
              <a:prstGeom prst="rect">
                <a:avLst/>
              </a:prstGeom>
              <a:blipFill>
                <a:blip r:embed="rId3"/>
                <a:stretch>
                  <a:fillRect l="-2604" b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330D366-28AB-27BD-7C33-C693229A70BD}"/>
              </a:ext>
            </a:extLst>
          </p:cNvPr>
          <p:cNvSpPr txBox="1"/>
          <p:nvPr/>
        </p:nvSpPr>
        <p:spPr>
          <a:xfrm>
            <a:off x="6220" y="3549674"/>
            <a:ext cx="4937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600" b="1" dirty="0">
                <a:solidFill>
                  <a:srgbClr val="FF0000"/>
                </a:solidFill>
              </a:rPr>
              <a:t>b)</a:t>
            </a:r>
            <a:r>
              <a:rPr lang="en-GB" altLang="zh-CN" sz="3600" dirty="0"/>
              <a:t> Hence evaluate</a:t>
            </a:r>
            <a:endParaRPr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671656-FE15-5E7D-FDD6-F40082C9DFB2}"/>
                  </a:ext>
                </a:extLst>
              </p:cNvPr>
              <p:cNvSpPr txBox="1"/>
              <p:nvPr/>
            </p:nvSpPr>
            <p:spPr>
              <a:xfrm>
                <a:off x="4009663" y="3175693"/>
                <a:ext cx="3408049" cy="13942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altLang="zh-CN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GB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6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altLang="zh-CN" sz="3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  <m:e>
                          <m:r>
                            <a:rPr lang="en-GB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altLang="zh-CN" sz="36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altLang="zh-CN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zh-CN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altLang="zh-CN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altLang="zh-CN" sz="3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671656-FE15-5E7D-FDD6-F40082C9D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663" y="3175693"/>
                <a:ext cx="3408049" cy="1394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oogle Shape;268;g37edda72ccb_0_104" descr="A close up of a fountain pen&#10;&#10;AI-generated content may be incorrect.">
            <a:extLst>
              <a:ext uri="{FF2B5EF4-FFF2-40B4-BE49-F238E27FC236}">
                <a16:creationId xmlns:a16="http://schemas.microsoft.com/office/drawing/2014/main" id="{C4DD5E11-4E94-4E47-B868-E16568B1D91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20958" y="267461"/>
            <a:ext cx="884904" cy="1865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2097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28AC07A-CBBA-7ABC-8304-99437C6B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68;g37edda72ccb_0_104" descr="A close up of a fountain pen&#10;&#10;AI-generated content may be incorrect.">
            <a:extLst>
              <a:ext uri="{FF2B5EF4-FFF2-40B4-BE49-F238E27FC236}">
                <a16:creationId xmlns:a16="http://schemas.microsoft.com/office/drawing/2014/main" id="{C6118294-1E2F-19D9-D604-2E0650920A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0958" y="267461"/>
            <a:ext cx="884904" cy="186567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7edda72ccb_0_7">
            <a:extLst>
              <a:ext uri="{FF2B5EF4-FFF2-40B4-BE49-F238E27FC236}">
                <a16:creationId xmlns:a16="http://schemas.microsoft.com/office/drawing/2014/main" id="{84E40D47-25FC-9BF2-D7BA-C9397A1FB718}"/>
              </a:ext>
            </a:extLst>
          </p:cNvPr>
          <p:cNvSpPr txBox="1"/>
          <p:nvPr/>
        </p:nvSpPr>
        <p:spPr>
          <a:xfrm>
            <a:off x="-6220" y="0"/>
            <a:ext cx="121920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15.9 FURTHER DEFINITE INTEGRATION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EXAMPLE 18 (W.E.18, P.394)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C80813-F1AD-A64E-D76E-E121E363931A}"/>
                  </a:ext>
                </a:extLst>
              </p:cNvPr>
              <p:cNvSpPr txBox="1"/>
              <p:nvPr/>
            </p:nvSpPr>
            <p:spPr>
              <a:xfrm>
                <a:off x="6220" y="1323399"/>
                <a:ext cx="7023230" cy="902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CN" sz="3600" b="1" dirty="0">
                    <a:solidFill>
                      <a:srgbClr val="FF0000"/>
                    </a:solidFill>
                  </a:rPr>
                  <a:t>a)</a:t>
                </a:r>
                <a:r>
                  <a:rPr lang="en-GB" altLang="zh-CN" sz="3600" dirty="0"/>
                  <a:t> Given that </a:t>
                </a:r>
                <a14:m>
                  <m:oMath xmlns:m="http://schemas.openxmlformats.org/officeDocument/2006/math">
                    <m:r>
                      <a:rPr lang="en-GB" altLang="zh-CN" sz="3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zh-CN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zh-CN" sz="3600" b="0" i="1" smtClean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sz="3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altLang="zh-CN" sz="36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altLang="zh-CN" sz="3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altLang="zh-CN" sz="3600" dirty="0"/>
                  <a:t> </a:t>
                </a:r>
                <a:endParaRPr lang="zh-CN" alt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C80813-F1AD-A64E-D76E-E121E3639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" y="1323399"/>
                <a:ext cx="7023230" cy="902876"/>
              </a:xfrm>
              <a:prstGeom prst="rect">
                <a:avLst/>
              </a:prstGeom>
              <a:blipFill>
                <a:blip r:embed="rId4"/>
                <a:stretch>
                  <a:fillRect l="-2604" b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3323094-DC0A-E080-CA67-5F004C46345A}"/>
              </a:ext>
            </a:extLst>
          </p:cNvPr>
          <p:cNvSpPr txBox="1"/>
          <p:nvPr/>
        </p:nvSpPr>
        <p:spPr>
          <a:xfrm>
            <a:off x="6220" y="3549674"/>
            <a:ext cx="4937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600" b="1" dirty="0">
                <a:solidFill>
                  <a:srgbClr val="FF0000"/>
                </a:solidFill>
              </a:rPr>
              <a:t>b)</a:t>
            </a:r>
            <a:r>
              <a:rPr lang="en-GB" altLang="zh-CN" sz="3600" dirty="0"/>
              <a:t> Hence evaluate</a:t>
            </a:r>
            <a:endParaRPr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8CAB6A-AEF1-7284-124D-FD3B0770E2FE}"/>
                  </a:ext>
                </a:extLst>
              </p:cNvPr>
              <p:cNvSpPr txBox="1"/>
              <p:nvPr/>
            </p:nvSpPr>
            <p:spPr>
              <a:xfrm>
                <a:off x="4009663" y="3175693"/>
                <a:ext cx="3408049" cy="13942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altLang="zh-CN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GB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36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altLang="zh-CN" sz="3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  <m:e>
                          <m:r>
                            <a:rPr lang="en-GB" altLang="zh-C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altLang="zh-CN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altLang="zh-CN" sz="36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altLang="zh-CN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zh-CN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altLang="zh-CN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altLang="zh-CN" sz="3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8CAB6A-AEF1-7284-124D-FD3B0770E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663" y="3175693"/>
                <a:ext cx="3408049" cy="13942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964FB2-E4DE-1A5C-8457-8F9742748085}"/>
                  </a:ext>
                </a:extLst>
              </p:cNvPr>
              <p:cNvSpPr txBox="1"/>
              <p:nvPr/>
            </p:nvSpPr>
            <p:spPr>
              <a:xfrm>
                <a:off x="5218533" y="1438134"/>
                <a:ext cx="6855279" cy="199086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altLang="zh-CN" sz="4000" b="1" dirty="0">
                    <a:solidFill>
                      <a:srgbClr val="FF0000"/>
                    </a:solidFill>
                  </a:rPr>
                  <a:t>a)</a:t>
                </a:r>
                <a:r>
                  <a:rPr lang="en-GB" altLang="zh-CN" sz="40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altLang="zh-CN" sz="4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sz="40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altLang="zh-CN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zh-CN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altLang="zh-CN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altLang="zh-CN" sz="40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altLang="zh-CN" sz="4000" b="0" i="1" smtClean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sz="4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altLang="zh-CN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zh-CN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altLang="zh-CN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altLang="zh-CN" sz="4000" dirty="0"/>
              </a:p>
              <a:p>
                <a:r>
                  <a:rPr lang="en-GB" altLang="zh-CN" sz="4000" b="1" dirty="0">
                    <a:solidFill>
                      <a:srgbClr val="FF0000"/>
                    </a:solidFill>
                  </a:rPr>
                  <a:t>b)</a:t>
                </a:r>
                <a:r>
                  <a:rPr lang="en-GB" altLang="zh-CN" sz="40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GB" altLang="zh-CN" sz="4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altLang="zh-CN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GB" sz="4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altLang="zh-CN" sz="4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964FB2-E4DE-1A5C-8457-8F9742748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533" y="1438134"/>
                <a:ext cx="6855279" cy="1990866"/>
              </a:xfrm>
              <a:prstGeom prst="rect">
                <a:avLst/>
              </a:prstGeom>
              <a:blipFill>
                <a:blip r:embed="rId6"/>
                <a:stretch>
                  <a:fillRect l="-3111" b="-3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757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chemeClr val="accent1">
                <a:lumMod val="15000"/>
                <a:lumOff val="85000"/>
                <a:alpha val="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9C76C537-11EA-53FF-E798-25481008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dda72ccb_0_7">
            <a:extLst>
              <a:ext uri="{FF2B5EF4-FFF2-40B4-BE49-F238E27FC236}">
                <a16:creationId xmlns:a16="http://schemas.microsoft.com/office/drawing/2014/main" id="{B90803CF-D661-14D5-6848-CBC9D7946C83}"/>
              </a:ext>
            </a:extLst>
          </p:cNvPr>
          <p:cNvSpPr txBox="1"/>
          <p:nvPr/>
        </p:nvSpPr>
        <p:spPr>
          <a:xfrm>
            <a:off x="0" y="0"/>
            <a:ext cx="903185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15.9 FURTHER DEFINITE INTEGRATION (EX.2)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0070C0"/>
                </a:solidFill>
                <a:latin typeface="ADLaM Display"/>
                <a:ea typeface="ADLaM Display"/>
                <a:cs typeface="ADLaM Display"/>
                <a:sym typeface="ADLaM Display"/>
              </a:rPr>
              <a:t>CHECK YOUR UNDERSTANDING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6310A3-7CF3-0137-125F-DB6BD041A82B}"/>
                  </a:ext>
                </a:extLst>
              </p:cNvPr>
              <p:cNvSpPr txBox="1"/>
              <p:nvPr/>
            </p:nvSpPr>
            <p:spPr>
              <a:xfrm>
                <a:off x="0" y="1077178"/>
                <a:ext cx="8488391" cy="1294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CN" sz="3200" b="1" dirty="0">
                    <a:solidFill>
                      <a:srgbClr val="FF0000"/>
                    </a:solidFill>
                  </a:rPr>
                  <a:t>2)</a:t>
                </a:r>
                <a:r>
                  <a:rPr lang="en-GB" altLang="zh-CN" sz="3200" dirty="0"/>
                  <a:t> </a:t>
                </a:r>
                <a:r>
                  <a:rPr lang="en-GB" altLang="zh-CN" sz="3200" b="1" dirty="0">
                    <a:solidFill>
                      <a:srgbClr val="FF0000"/>
                    </a:solidFill>
                  </a:rPr>
                  <a:t>a)</a:t>
                </a:r>
                <a:r>
                  <a:rPr lang="en-GB" altLang="zh-CN" sz="3200" dirty="0"/>
                  <a:t> Given that </a:t>
                </a:r>
                <a14:m>
                  <m:oMath xmlns:m="http://schemas.openxmlformats.org/officeDocument/2006/math">
                    <m:r>
                      <a:rPr lang="en-GB" altLang="zh-CN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zh-CN" sz="32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GB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altLang="zh-CN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altLang="zh-CN" sz="32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altLang="zh-CN" sz="3200" dirty="0"/>
              </a:p>
              <a:p>
                <a:r>
                  <a:rPr lang="en-GB" altLang="zh-CN" sz="3200" b="1" dirty="0">
                    <a:solidFill>
                      <a:srgbClr val="FF0000"/>
                    </a:solidFill>
                  </a:rPr>
                  <a:t>    b)</a:t>
                </a:r>
                <a:r>
                  <a:rPr lang="en-GB" altLang="zh-CN" sz="3200" dirty="0"/>
                  <a:t> Hence evaluate 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6310A3-7CF3-0137-125F-DB6BD041A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77178"/>
                <a:ext cx="8488391" cy="1294072"/>
              </a:xfrm>
              <a:prstGeom prst="rect">
                <a:avLst/>
              </a:prstGeom>
              <a:blipFill>
                <a:blip r:embed="rId3"/>
                <a:stretch>
                  <a:fillRect l="-1796" b="-14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2057D62-BC1B-AC0A-01A4-8153C95851B8}"/>
              </a:ext>
            </a:extLst>
          </p:cNvPr>
          <p:cNvSpPr txBox="1"/>
          <p:nvPr/>
        </p:nvSpPr>
        <p:spPr>
          <a:xfrm>
            <a:off x="8376249" y="538589"/>
            <a:ext cx="2139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400" dirty="0"/>
              <a:t>Answer on the next slide…</a:t>
            </a:r>
            <a:endParaRPr lang="zh-CN" altLang="en-US" sz="2400" dirty="0"/>
          </a:p>
        </p:txBody>
      </p:sp>
      <p:pic>
        <p:nvPicPr>
          <p:cNvPr id="1026" name="Picture 2" descr="Question mark - Free shapes and symbols icons">
            <a:extLst>
              <a:ext uri="{FF2B5EF4-FFF2-40B4-BE49-F238E27FC236}">
                <a16:creationId xmlns:a16="http://schemas.microsoft.com/office/drawing/2014/main" id="{D3C674B7-C096-C18C-F0F7-29EC4FFD5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4325" y="0"/>
            <a:ext cx="1530037" cy="153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3B2B2F-A98D-8DF7-6033-896E07D36F91}"/>
                  </a:ext>
                </a:extLst>
              </p:cNvPr>
              <p:cNvSpPr txBox="1"/>
              <p:nvPr/>
            </p:nvSpPr>
            <p:spPr>
              <a:xfrm>
                <a:off x="3981090" y="1780635"/>
                <a:ext cx="2808398" cy="966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p>
                            <m:sSup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zh-CN" sz="28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GB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GB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3B2B2F-A98D-8DF7-6033-896E07D36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090" y="1780635"/>
                <a:ext cx="2808398" cy="9660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93F1F33-17D1-0DA6-322C-C7774A8428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382503"/>
                  </p:ext>
                </p:extLst>
              </p:nvPr>
            </p:nvGraphicFramePr>
            <p:xfrm>
              <a:off x="1778239" y="3074707"/>
              <a:ext cx="8635522" cy="3200400"/>
            </p:xfrm>
            <a:graphic>
              <a:graphicData uri="http://schemas.openxmlformats.org/drawingml/2006/table">
                <a:tbl>
                  <a:tblPr firstRow="1" bandRow="1">
                    <a:tableStyleId>{CD796826-F567-4EB6-B248-4FA224979A40}</a:tableStyleId>
                  </a:tblPr>
                  <a:tblGrid>
                    <a:gridCol w="710351">
                      <a:extLst>
                        <a:ext uri="{9D8B030D-6E8A-4147-A177-3AD203B41FA5}">
                          <a16:colId xmlns:a16="http://schemas.microsoft.com/office/drawing/2014/main" val="2224468077"/>
                        </a:ext>
                      </a:extLst>
                    </a:gridCol>
                    <a:gridCol w="7925171">
                      <a:extLst>
                        <a:ext uri="{9D8B030D-6E8A-4147-A177-3AD203B41FA5}">
                          <a16:colId xmlns:a16="http://schemas.microsoft.com/office/drawing/2014/main" val="20131542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1.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CN" sz="3600" b="0" i="1" smtClean="0">
                                    <a:latin typeface="Cambria Math" panose="02040503050406030204" pitchFamily="18" charset="0"/>
                                  </a:rPr>
                                  <m:t>1189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014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2.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CN" sz="3600" b="0" i="1" smtClean="0">
                                    <a:latin typeface="Cambria Math" panose="02040503050406030204" pitchFamily="18" charset="0"/>
                                  </a:rPr>
                                  <m:t>1190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8288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3.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CN" sz="3600" b="0" i="1" smtClean="0">
                                    <a:latin typeface="Cambria Math" panose="02040503050406030204" pitchFamily="18" charset="0"/>
                                  </a:rPr>
                                  <m:t>1191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3037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4.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CN" sz="3600" b="0" i="1" smtClean="0">
                                    <a:latin typeface="Cambria Math" panose="02040503050406030204" pitchFamily="18" charset="0"/>
                                  </a:rPr>
                                  <m:t>1188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9914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5.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None</m:t>
                                </m:r>
                                <m: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of</m:t>
                                </m:r>
                                <m: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above</m:t>
                                </m:r>
                              </m:oMath>
                            </m:oMathPara>
                          </a14:m>
                          <a:endParaRPr lang="zh-CN" altLang="en-US" sz="3600" i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677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93F1F33-17D1-0DA6-322C-C7774A8428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382503"/>
                  </p:ext>
                </p:extLst>
              </p:nvPr>
            </p:nvGraphicFramePr>
            <p:xfrm>
              <a:off x="1778239" y="3074707"/>
              <a:ext cx="8635522" cy="3200400"/>
            </p:xfrm>
            <a:graphic>
              <a:graphicData uri="http://schemas.openxmlformats.org/drawingml/2006/table">
                <a:tbl>
                  <a:tblPr firstRow="1" bandRow="1">
                    <a:tableStyleId>{CD796826-F567-4EB6-B248-4FA224979A40}</a:tableStyleId>
                  </a:tblPr>
                  <a:tblGrid>
                    <a:gridCol w="710351">
                      <a:extLst>
                        <a:ext uri="{9D8B030D-6E8A-4147-A177-3AD203B41FA5}">
                          <a16:colId xmlns:a16="http://schemas.microsoft.com/office/drawing/2014/main" val="2224468077"/>
                        </a:ext>
                      </a:extLst>
                    </a:gridCol>
                    <a:gridCol w="7925171">
                      <a:extLst>
                        <a:ext uri="{9D8B030D-6E8A-4147-A177-3AD203B41FA5}">
                          <a16:colId xmlns:a16="http://schemas.microsoft.com/office/drawing/2014/main" val="201315428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1.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070" t="-14286" r="-77" b="-4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01468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2.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070" t="-114286" r="-77" b="-3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828862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3.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070" t="-212264" r="-77" b="-2330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30370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4.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070" t="-315238" r="-77" b="-13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99142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5.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9070" t="-415238" r="-77" b="-3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677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362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0">
              <a:schemeClr val="accent1">
                <a:lumMod val="15000"/>
                <a:lumOff val="85000"/>
                <a:alpha val="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2ECE2EBB-BE9C-1E00-E42F-508B76B0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dda72ccb_0_7">
            <a:extLst>
              <a:ext uri="{FF2B5EF4-FFF2-40B4-BE49-F238E27FC236}">
                <a16:creationId xmlns:a16="http://schemas.microsoft.com/office/drawing/2014/main" id="{69E0616B-9AB0-DB10-1F3C-FBC9DBC2B722}"/>
              </a:ext>
            </a:extLst>
          </p:cNvPr>
          <p:cNvSpPr txBox="1"/>
          <p:nvPr/>
        </p:nvSpPr>
        <p:spPr>
          <a:xfrm>
            <a:off x="0" y="0"/>
            <a:ext cx="9031856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chemeClr val="dk1"/>
                </a:solidFill>
                <a:latin typeface="ADLaM Display"/>
                <a:ea typeface="ADLaM Display"/>
                <a:cs typeface="ADLaM Display"/>
                <a:sym typeface="ADLaM Display"/>
              </a:rPr>
              <a:t>15.9 FURTHER DEFINITE INTEGRATION (EX.2)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rgbClr val="0070C0"/>
                </a:solidFill>
                <a:latin typeface="ADLaM Display"/>
                <a:ea typeface="ADLaM Display"/>
                <a:cs typeface="ADLaM Display"/>
                <a:sym typeface="ADLaM Display"/>
              </a:rPr>
              <a:t>CHECK YOUR UNDERSTANDING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D1991A-EBF8-0522-FEE4-8B2858DB5112}"/>
                  </a:ext>
                </a:extLst>
              </p:cNvPr>
              <p:cNvSpPr txBox="1"/>
              <p:nvPr/>
            </p:nvSpPr>
            <p:spPr>
              <a:xfrm>
                <a:off x="0" y="1077178"/>
                <a:ext cx="8488391" cy="1294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CN" sz="3200" b="1" dirty="0">
                    <a:solidFill>
                      <a:srgbClr val="FF0000"/>
                    </a:solidFill>
                  </a:rPr>
                  <a:t>2)</a:t>
                </a:r>
                <a:r>
                  <a:rPr lang="en-GB" altLang="zh-CN" sz="3200" dirty="0"/>
                  <a:t> </a:t>
                </a:r>
                <a:r>
                  <a:rPr lang="en-GB" altLang="zh-CN" sz="3200" b="1" dirty="0">
                    <a:solidFill>
                      <a:srgbClr val="FF0000"/>
                    </a:solidFill>
                  </a:rPr>
                  <a:t>a)</a:t>
                </a:r>
                <a:r>
                  <a:rPr lang="en-GB" altLang="zh-CN" sz="3200" dirty="0"/>
                  <a:t> Given that </a:t>
                </a:r>
                <a14:m>
                  <m:oMath xmlns:m="http://schemas.openxmlformats.org/officeDocument/2006/math">
                    <m:r>
                      <a:rPr lang="en-GB" altLang="zh-CN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zh-CN" sz="32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GB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altLang="zh-CN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altLang="zh-CN" sz="3200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altLang="zh-CN" sz="3200" dirty="0"/>
              </a:p>
              <a:p>
                <a:r>
                  <a:rPr lang="en-GB" altLang="zh-CN" sz="3200" b="1" dirty="0">
                    <a:solidFill>
                      <a:srgbClr val="FF0000"/>
                    </a:solidFill>
                  </a:rPr>
                  <a:t>    b)</a:t>
                </a:r>
                <a:r>
                  <a:rPr lang="en-GB" altLang="zh-CN" sz="3200" dirty="0"/>
                  <a:t> Hence evaluate 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D1991A-EBF8-0522-FEE4-8B2858DB5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77178"/>
                <a:ext cx="8488391" cy="1294072"/>
              </a:xfrm>
              <a:prstGeom prst="rect">
                <a:avLst/>
              </a:prstGeom>
              <a:blipFill>
                <a:blip r:embed="rId3"/>
                <a:stretch>
                  <a:fillRect l="-1796" b="-14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669393-C268-2FD9-D8C4-EA3933339BE6}"/>
                  </a:ext>
                </a:extLst>
              </p:cNvPr>
              <p:cNvSpPr txBox="1"/>
              <p:nvPr/>
            </p:nvSpPr>
            <p:spPr>
              <a:xfrm>
                <a:off x="3981090" y="1780635"/>
                <a:ext cx="2808398" cy="966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p>
                            <m:sSup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altLang="zh-CN" sz="28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GB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GB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GB" altLang="zh-CN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altLang="zh-CN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669393-C268-2FD9-D8C4-EA3933339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090" y="1780635"/>
                <a:ext cx="2808398" cy="9660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9653E26-660C-265C-CF3A-23B61D448D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608257"/>
                  </p:ext>
                </p:extLst>
              </p:nvPr>
            </p:nvGraphicFramePr>
            <p:xfrm>
              <a:off x="1778239" y="3074707"/>
              <a:ext cx="8635522" cy="3200400"/>
            </p:xfrm>
            <a:graphic>
              <a:graphicData uri="http://schemas.openxmlformats.org/drawingml/2006/table">
                <a:tbl>
                  <a:tblPr firstRow="1" bandRow="1">
                    <a:tableStyleId>{CD796826-F567-4EB6-B248-4FA224979A40}</a:tableStyleId>
                  </a:tblPr>
                  <a:tblGrid>
                    <a:gridCol w="710351">
                      <a:extLst>
                        <a:ext uri="{9D8B030D-6E8A-4147-A177-3AD203B41FA5}">
                          <a16:colId xmlns:a16="http://schemas.microsoft.com/office/drawing/2014/main" val="2224468077"/>
                        </a:ext>
                      </a:extLst>
                    </a:gridCol>
                    <a:gridCol w="7925171">
                      <a:extLst>
                        <a:ext uri="{9D8B030D-6E8A-4147-A177-3AD203B41FA5}">
                          <a16:colId xmlns:a16="http://schemas.microsoft.com/office/drawing/2014/main" val="20131542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1.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CN" sz="3600" b="0" i="1" smtClean="0">
                                    <a:latin typeface="Cambria Math" panose="02040503050406030204" pitchFamily="18" charset="0"/>
                                  </a:rPr>
                                  <m:t>1189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014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2.</a:t>
                          </a:r>
                          <a:endParaRPr lang="zh-CN" altLang="en-US" sz="3600" b="1" dirty="0"/>
                        </a:p>
                      </a:txBody>
                      <a:tcP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CN" sz="3600" b="0" i="1" smtClean="0">
                                    <a:latin typeface="Cambria Math" panose="02040503050406030204" pitchFamily="18" charset="0"/>
                                  </a:rPr>
                                  <m:t>1190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8288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3.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CN" sz="3600" b="0" i="1" smtClean="0">
                                    <a:latin typeface="Cambria Math" panose="02040503050406030204" pitchFamily="18" charset="0"/>
                                  </a:rPr>
                                  <m:t>1191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3037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4.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CN" sz="3600" b="0" i="1" smtClean="0">
                                    <a:latin typeface="Cambria Math" panose="02040503050406030204" pitchFamily="18" charset="0"/>
                                  </a:rPr>
                                  <m:t>1188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9914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5.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None</m:t>
                                </m:r>
                                <m: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of</m:t>
                                </m:r>
                                <m: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altLang="zh-CN" sz="3600" b="0" i="0" smtClean="0">
                                    <a:latin typeface="Cambria Math" panose="02040503050406030204" pitchFamily="18" charset="0"/>
                                  </a:rPr>
                                  <m:t>above</m:t>
                                </m:r>
                              </m:oMath>
                            </m:oMathPara>
                          </a14:m>
                          <a:endParaRPr lang="zh-CN" altLang="en-US" sz="3600" i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677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9653E26-660C-265C-CF3A-23B61D448D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608257"/>
                  </p:ext>
                </p:extLst>
              </p:nvPr>
            </p:nvGraphicFramePr>
            <p:xfrm>
              <a:off x="1778239" y="3074707"/>
              <a:ext cx="8635522" cy="3200400"/>
            </p:xfrm>
            <a:graphic>
              <a:graphicData uri="http://schemas.openxmlformats.org/drawingml/2006/table">
                <a:tbl>
                  <a:tblPr firstRow="1" bandRow="1">
                    <a:tableStyleId>{CD796826-F567-4EB6-B248-4FA224979A40}</a:tableStyleId>
                  </a:tblPr>
                  <a:tblGrid>
                    <a:gridCol w="710351">
                      <a:extLst>
                        <a:ext uri="{9D8B030D-6E8A-4147-A177-3AD203B41FA5}">
                          <a16:colId xmlns:a16="http://schemas.microsoft.com/office/drawing/2014/main" val="2224468077"/>
                        </a:ext>
                      </a:extLst>
                    </a:gridCol>
                    <a:gridCol w="7925171">
                      <a:extLst>
                        <a:ext uri="{9D8B030D-6E8A-4147-A177-3AD203B41FA5}">
                          <a16:colId xmlns:a16="http://schemas.microsoft.com/office/drawing/2014/main" val="201315428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1.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9070" t="-14286" r="-77" b="-4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01468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2.</a:t>
                          </a:r>
                          <a:endParaRPr lang="zh-CN" altLang="en-US" sz="3600" b="1" dirty="0"/>
                        </a:p>
                      </a:txBody>
                      <a:tcP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9070" t="-114286" r="-77" b="-3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828862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3.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9070" t="-212264" r="-77" b="-2330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30370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4.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9070" t="-315238" r="-77" b="-13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99142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altLang="zh-CN" sz="3600" b="1" dirty="0"/>
                            <a:t>5.</a:t>
                          </a:r>
                          <a:endParaRPr lang="zh-CN" altLang="en-US" sz="3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9070" t="-415238" r="-77" b="-3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677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2" descr="Correct Icon PNG Images, Vectors Free Download - Pngtree">
            <a:extLst>
              <a:ext uri="{FF2B5EF4-FFF2-40B4-BE49-F238E27FC236}">
                <a16:creationId xmlns:a16="http://schemas.microsoft.com/office/drawing/2014/main" id="{9026CCAC-8391-656F-05A7-2103E5626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645" y="0"/>
            <a:ext cx="1400355" cy="140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366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12212</TotalTime>
  <Words>276</Words>
  <Application>Microsoft Office PowerPoint</Application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Cambria Math</vt:lpstr>
      <vt:lpstr>Arial</vt:lpstr>
      <vt:lpstr>ADLaM Display</vt:lpstr>
      <vt:lpstr>Office Theme</vt:lpstr>
      <vt:lpstr>CALCULUS – INTEGRATION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Leonardo Dalle Luche</dc:creator>
  <cp:lastModifiedBy>Leonardo Dalle Luche</cp:lastModifiedBy>
  <cp:revision>679</cp:revision>
  <dcterms:created xsi:type="dcterms:W3CDTF">2025-08-28T02:44:48Z</dcterms:created>
  <dcterms:modified xsi:type="dcterms:W3CDTF">2026-05-06T02:56:34Z</dcterms:modified>
</cp:coreProperties>
</file>